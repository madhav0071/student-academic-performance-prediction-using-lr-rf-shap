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Top Features (Impurity-Based)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D7-4141-98D3-9A618509BB0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6D7-4141-98D3-9A618509BB04}"/>
              </c:ext>
            </c:extLst>
          </c:dPt>
          <c:dPt>
            <c:idx val="2"/>
            <c:invertIfNegative val="0"/>
            <c:bubble3D val="0"/>
            <c:spPr>
              <a:solidFill>
                <a:srgbClr val="AA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D7-4141-98D3-9A618509BB04}"/>
              </c:ext>
            </c:extLst>
          </c:dPt>
          <c:dPt>
            <c:idx val="3"/>
            <c:invertIfNegative val="0"/>
            <c:bubble3D val="0"/>
            <c:spPr>
              <a:solidFill>
                <a:srgbClr val="AA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D7-4141-98D3-9A618509BB04}"/>
              </c:ext>
            </c:extLst>
          </c:dPt>
          <c:dPt>
            <c:idx val="4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D7-4141-98D3-9A618509BB04}"/>
              </c:ext>
            </c:extLst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6D7-4141-98D3-9A618509BB04}"/>
              </c:ext>
            </c:extLst>
          </c:dPt>
          <c:dPt>
            <c:idx val="6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6D7-4141-98D3-9A618509BB04}"/>
              </c:ext>
            </c:extLst>
          </c:dPt>
          <c:dPt>
            <c:idx val="7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6D7-4141-98D3-9A618509BB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G2</c:v>
                </c:pt>
                <c:pt idx="1">
                  <c:v>G1</c:v>
                </c:pt>
                <c:pt idx="2">
                  <c:v>absences</c:v>
                </c:pt>
                <c:pt idx="3">
                  <c:v>failures</c:v>
                </c:pt>
                <c:pt idx="4">
                  <c:v>Walc</c:v>
                </c:pt>
                <c:pt idx="5">
                  <c:v>studytime</c:v>
                </c:pt>
                <c:pt idx="6">
                  <c:v>Medu</c:v>
                </c:pt>
                <c:pt idx="7">
                  <c:v>age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0.35339999999999999</c:v>
                </c:pt>
                <c:pt idx="1">
                  <c:v>0.20250000000000001</c:v>
                </c:pt>
                <c:pt idx="2">
                  <c:v>3.73E-2</c:v>
                </c:pt>
                <c:pt idx="3">
                  <c:v>3.1199999999999999E-2</c:v>
                </c:pt>
                <c:pt idx="4">
                  <c:v>1.7299999999999999E-2</c:v>
                </c:pt>
                <c:pt idx="5">
                  <c:v>1.4E-2</c:v>
                </c:pt>
                <c:pt idx="6">
                  <c:v>1.2500000000000001E-2</c:v>
                </c:pt>
                <c:pt idx="7">
                  <c:v>1.0999999999999999E-2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6D7-4141-98D3-9A618509BB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3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73152"/>
            <a:ext cx="173736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0936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solidFill>
                <a:srgbClr val="5555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algn="ctr"/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marL="0" indent="0" algn="ctr">
              <a:buNone/>
            </a:pPr>
            <a:endParaRPr lang="en-US" sz="1400" dirty="0">
              <a:solidFill>
                <a:srgbClr val="5555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600" b="1" dirty="0"/>
          </a:p>
        </p:txBody>
      </p:sp>
      <p:sp>
        <p:nvSpPr>
          <p:cNvPr id="6" name="Text 3"/>
          <p:cNvSpPr/>
          <p:nvPr/>
        </p:nvSpPr>
        <p:spPr>
          <a:xfrm>
            <a:off x="548640" y="1391194"/>
            <a:ext cx="8046720" cy="1031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Academic Performance Prediction Using Logistic Regression and Random Forest with SHAP-Based Interpretability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Madhav, Vipul Sharma, Keshav Singla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2210991862, 2210992534, 2210991786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r>
              <a:rPr lang="en-US" sz="14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Gifty Gupta</a:t>
            </a:r>
            <a:endParaRPr lang="en-US" sz="1400" b="1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Department of Computer Science and Engineering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Chitkara University, Punjab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2949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777240"/>
            <a:ext cx="4114800" cy="658368"/>
          </a:xfrm>
          <a:prstGeom prst="rect">
            <a:avLst/>
          </a:prstGeom>
          <a:solidFill>
            <a:srgbClr val="FCEAE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777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Introduction &amp; Motivation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600200"/>
            <a:ext cx="411480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002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Literature Review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423160"/>
            <a:ext cx="4114800" cy="658368"/>
          </a:xfrm>
          <a:prstGeom prst="rect">
            <a:avLst/>
          </a:prstGeom>
          <a:solidFill>
            <a:srgbClr val="FCEAE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4231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Dataset Description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246120"/>
            <a:ext cx="411480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2461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Methodology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46320" y="777240"/>
            <a:ext cx="4114800" cy="658368"/>
          </a:xfrm>
          <a:prstGeom prst="rect">
            <a:avLst/>
          </a:prstGeom>
          <a:solidFill>
            <a:srgbClr val="FCEAEA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777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Results &amp; Analysis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46320" y="1600200"/>
            <a:ext cx="4114800" cy="658368"/>
          </a:xfrm>
          <a:prstGeom prst="rect">
            <a:avLst/>
          </a:prstGeom>
          <a:solidFill>
            <a:srgbClr val="F5F5F5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16002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Suggested Early Intervention Framework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2423160"/>
            <a:ext cx="4114800" cy="658368"/>
          </a:xfrm>
          <a:prstGeom prst="rect">
            <a:avLst/>
          </a:prstGeom>
          <a:solidFill>
            <a:srgbClr val="FCEAEA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24231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Motivation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6868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640080"/>
            <a:ext cx="3200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40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62179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failure rarely occurs suddenly — reduced attendance, participation, and grades are observable weeks before.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307592"/>
            <a:ext cx="3200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3075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1289304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Institutions collect this data regularly but rarely use it systematically for early intervention.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1975104"/>
            <a:ext cx="3200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9751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1956816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study applies machine learning on routinely collected data to identify at-risk students early.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2642616"/>
            <a:ext cx="3200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64261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262432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classifiers evaluated: Logistic Regression (interpretable baseline) and Random Forest (ensemble method).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3310128"/>
            <a:ext cx="3200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310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" y="329184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focus: Fail-class recall over aggregate accuracy — missing an at-risk student costs more than a false alarm.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3977640"/>
            <a:ext cx="3200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977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5800" y="395935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analysis ensures model outputs are explainable and actionable by educators.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6868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658368"/>
            <a:ext cx="16459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58368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Cortez &amp; Silva [1]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11680" y="658368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DT, RF, NN, SVM on UCI dataset. G1/G2 dominant predictors across algorithms.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252728"/>
            <a:ext cx="16459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252728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Romero &amp; Ventura [2]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11680" y="1252728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Founded the EDM discipline with survey of classification &amp; clustering approaches.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1847088"/>
            <a:ext cx="16459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847088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Kotsiantis et al. [3]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11680" y="1847088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single algorithm dominates — consistent with No Free Lunch theorem.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441448"/>
            <a:ext cx="16459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441448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Márquez-Vera et al. [4]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011680" y="2441448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Absenteeism is a strong independent predictor beyond academic history.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035808"/>
            <a:ext cx="16459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035808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Gray et al. [6]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011680" y="3035808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predictions possible by Week 4 — critical for early warning system design.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630168"/>
            <a:ext cx="16459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630168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Hellas et al. [8]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011680" y="3630168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 top classifier in 50+ studies; widespread lack of consistent evaluation.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4224528"/>
            <a:ext cx="16459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224528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Aldowah et al. [10]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011680" y="4224528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Interpretable outputs are an ethical requirement for institutional AI use.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Description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77724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6583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UCI Student Performance Dataset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13716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972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8308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Student Records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1764792"/>
            <a:ext cx="13716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7647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83080" y="1810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Attributes (41 after encoding)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2432304"/>
            <a:ext cx="13716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43230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67.1%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783080" y="24780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 rate (G3 ≥ 10)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099816"/>
            <a:ext cx="13716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0998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32.9%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783080" y="31455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 rate (G3 &lt; 10)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767328"/>
            <a:ext cx="13716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7673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83080" y="38130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658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Attribute Categories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54880" y="1090749"/>
            <a:ext cx="4114800" cy="685800"/>
          </a:xfrm>
          <a:prstGeom prst="rect">
            <a:avLst/>
          </a:prstGeom>
          <a:solidFill>
            <a:srgbClr val="FCEA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11430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Demographic: </a:t>
            </a: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Sex, age, address type, family size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1901952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1947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Socioeconomic: </a:t>
            </a: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Parental education (Medu/Fedu), family support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2706624"/>
            <a:ext cx="4114800" cy="685800"/>
          </a:xfrm>
          <a:prstGeom prst="rect">
            <a:avLst/>
          </a:prstGeom>
          <a:solidFill>
            <a:srgbClr val="FCEA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275234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Behavioural: </a:t>
            </a: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time, absences, alcohol use (Dalc/Walc)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54880" y="3511296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35570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Academic: </a:t>
            </a: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failures, G1, G2, G3 (target variable)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73152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658368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658368"/>
            <a:ext cx="42062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6583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Target Engineering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104241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G3 binarised at threshold 10 (Pass/Fail). G3 removed from features to avoid data leakage. G1, G2 retained as real-world predictors.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658368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658368"/>
            <a:ext cx="42062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64608" y="6583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Preprocessing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64608" y="104241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One-hot encoding (drop_first=True) → 41 features. No normalisation for RF (scale-invariant); LR max_iter=1000.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048256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048256"/>
            <a:ext cx="42062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0482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Train-Test Split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4048" y="243230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80/20 stratified split (train n=316, test n=79). Fixed random_state=42 for reproducibility.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2048256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048256"/>
            <a:ext cx="42062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64608" y="20482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Models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64608" y="243230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 (interpretable baseline) vs. Random Forest (default hyperparameters for EDM comparability).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74320" y="3438144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438144"/>
            <a:ext cx="42062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34381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E. Evaluation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84048" y="382219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Stratified 5-fold CV. Metrics: Accuracy, Precision, Recall, F1, AUC-ROC. Focus on Fail-class recall.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754880" y="3438144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3438144"/>
            <a:ext cx="42062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64608" y="34381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F. Interpretability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64608" y="382219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 impurity-based feature importance + SHAP TreeExplainer for individual-level prediction explanation.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Model Performance (n = 79)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91440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4114800" cy="1389888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 (0)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 (1)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4880" y="658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24128"/>
          <a:ext cx="4114800" cy="1389888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 (0)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 ★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 (1)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274320" y="2606040"/>
            <a:ext cx="8595360" cy="685800"/>
          </a:xfrm>
          <a:prstGeom prst="rect">
            <a:avLst/>
          </a:prstGeom>
          <a:solidFill>
            <a:srgbClr val="FCEAE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63347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Insight: </a:t>
            </a: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correctly identified 26/27 at-risk students (Fail recall = 0.96 vs LR's 0.93). At scale (1,000 students, 33% fail rate), this means ~15 more students flagged for intervention annually.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274320" y="34015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5-Fold Cross-Validation — Random Forest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67328"/>
          <a:ext cx="8595363" cy="73152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Fold 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Fold 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Fold 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Fold 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Fold 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0.8861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0.9241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0.8734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0.9241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0.9241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0.9063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0.022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ROC Curves &amp; AUC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73152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658368"/>
            <a:ext cx="39319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583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
</a:t>
            </a:r>
            <a:endParaRPr lang="en-US" sz="13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 = 0.98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658368"/>
            <a:ext cx="3931920" cy="1005840"/>
          </a:xfrm>
          <a:prstGeom prst="rect">
            <a:avLst/>
          </a:prstGeom>
          <a:solidFill>
            <a:srgbClr val="FCEAEA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6583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 ✓ Preferred
</a:t>
            </a:r>
            <a:endParaRPr lang="en-US" sz="13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 = 0.95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17830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Random Forest is preferred despite slightly lower AUC: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2212848"/>
            <a:ext cx="292608" cy="4206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212848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" y="22128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Fail-class recall (0.96 vs 0.93) — more at-risk students correctly flagged.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798064"/>
            <a:ext cx="292608" cy="4206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798064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" y="279806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cross-validation stability (mean 90.6%, SD 0.022) — reliable generalisation.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3383280"/>
            <a:ext cx="292608" cy="4206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38328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" y="33832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 curve rises steeply at low false-positive rates — essential for practical early warning.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968496"/>
            <a:ext cx="292608" cy="4206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968496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8368" y="39684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LR's AUC 0.98 reflects its calibrated probabilities but not superior operational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Importance &amp; SHAP Analysis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73152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182880" y="658368"/>
          <a:ext cx="4572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93776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Findings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937760" y="1078992"/>
            <a:ext cx="3931920" cy="777240"/>
          </a:xfrm>
          <a:prstGeom prst="rect">
            <a:avLst/>
          </a:prstGeom>
          <a:solidFill>
            <a:srgbClr val="FCEA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47488" y="11247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G2 &amp; G1: </a:t>
            </a: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Dominant predictors (&gt;55% importance). High values → strong Pass; low values → strong Fail signal.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37760" y="1947672"/>
            <a:ext cx="39319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47488" y="199339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Past Failures: </a:t>
            </a: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negative influence — each prior failure decreases predicted Pass probability.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37760" y="2816352"/>
            <a:ext cx="3931920" cy="777240"/>
          </a:xfrm>
          <a:prstGeom prst="rect">
            <a:avLst/>
          </a:prstGeom>
          <a:solidFill>
            <a:srgbClr val="FCEA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47488" y="286207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Absences: </a:t>
            </a: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Dispersed effect — modest for most, but extreme absence = large negative SHAP contribution.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37760" y="3685032"/>
            <a:ext cx="39319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47488" y="373075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Walc (Weekend Alcohol): </a:t>
            </a: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but directionally consistent negative contribution — useful conversation starter for educators.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Suggested Early Intervention Framework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2296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658368"/>
            <a:ext cx="85953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658368"/>
            <a:ext cx="86868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8368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749808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runs on current-semester records at an early checkpoint (after first assessment). Students above a calibrated threshold are flagged. Threshold tuned to institutional response capacity.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1892808"/>
            <a:ext cx="0" cy="18288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075688"/>
            <a:ext cx="85953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2075688"/>
            <a:ext cx="86868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075688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2167128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Prioritisation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Flagged students ranked by predicted failure probability and combined with real-time engagement indicators (attendance, submission rates). High risk + declining engagement = priority outreach.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9120" y="3310128"/>
            <a:ext cx="0" cy="18288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493008"/>
            <a:ext cx="85953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3493008"/>
            <a:ext cx="86868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493008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584448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student receives a personalised response guided by their SHAP explanation: poor G1 → academic skills; absenteeism → root-cause discussion; past failures → planning support.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solidFill>
            <a:srgbClr val="FCEAE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Principle: The model augments — never replaces — professional educator judgment.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Limitations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6576"/>
            <a:ext cx="173736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6583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024128"/>
            <a:ext cx="25603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2412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" y="1024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models achieved 92.4% test accuracy.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1536192"/>
            <a:ext cx="25603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536192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" y="15361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Forest: Fail recall 0.96, AUC 0.95, CV mean 90.6% (SD 0.022).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4320" y="2048256"/>
            <a:ext cx="25603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048256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" y="20482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G2 and G1 are dominant predictors (&gt;55% feature importance).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2560320"/>
            <a:ext cx="25603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56032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Absenteeism and past failures are actionable secondary predictors.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3072384"/>
            <a:ext cx="25603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072384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" y="3072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Three-stage framework operationalises predictions into educator support.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4880" y="6583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1024128"/>
            <a:ext cx="256032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10241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02352" y="10241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dataset (n=395, Portugal) — generalisability unverified.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754880" y="1709928"/>
            <a:ext cx="256032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17099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102352" y="17099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formal subgroup fairness assessment — required before deployment.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754880" y="2395728"/>
            <a:ext cx="256032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23957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02352" y="2395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power studied, not intervention efficacy.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754880" y="3081528"/>
            <a:ext cx="256032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30815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102352" y="30815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Future: Multi-site validation, fairness auditing, longitudinal study.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3657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00584"/>
            <a:ext cx="173736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1115</Words>
  <Application>Microsoft Office PowerPoint</Application>
  <PresentationFormat>On-screen Show (16:9)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madhav sharma</cp:lastModifiedBy>
  <cp:revision>3</cp:revision>
  <dcterms:created xsi:type="dcterms:W3CDTF">2026-04-28T06:46:17Z</dcterms:created>
  <dcterms:modified xsi:type="dcterms:W3CDTF">2026-04-28T07:07:17Z</dcterms:modified>
</cp:coreProperties>
</file>